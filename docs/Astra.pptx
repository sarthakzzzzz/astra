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7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9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2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4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4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9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8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00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5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8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37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28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e.ual.es/en/support-for-the-creation-of-an-eu-cybersecurity-certification-framework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d/3.0/" TargetMode="External"/><Relationship Id="rId3" Type="http://schemas.openxmlformats.org/officeDocument/2006/relationships/hyperlink" Target="https://geobrava.wordpress.com/2019/09/25/how-artificial-intelligence-creates-cyber-security-risks/" TargetMode="External"/><Relationship Id="rId7" Type="http://schemas.openxmlformats.org/officeDocument/2006/relationships/hyperlink" Target="https://journalistsresource.org/economics/emerging-cyber-threats-report-2013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2"/>
            <a:ext cx="5928270" cy="1011490"/>
          </a:xfrm>
        </p:spPr>
        <p:txBody>
          <a:bodyPr>
            <a:normAutofit fontScale="90000"/>
          </a:bodyPr>
          <a:lstStyle/>
          <a:p>
            <a:pPr>
              <a:defRPr sz="4400" b="1"/>
            </a:pPr>
            <a:r>
              <a:rPr sz="5300" dirty="0">
                <a:latin typeface="Algerian" panose="04020705040A02060702" pitchFamily="82" charset="0"/>
              </a:rPr>
              <a:t>ASTRA</a:t>
            </a: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r>
              <a:rPr lang="en-US" sz="1800" dirty="0">
                <a:latin typeface="Algerian" panose="04020705040A02060702" pitchFamily="82" charset="0"/>
              </a:rPr>
              <a:t>-Automated Security Threat Recognition System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7220" y="2762054"/>
            <a:ext cx="4920792" cy="1187777"/>
          </a:xfrm>
        </p:spPr>
        <p:txBody>
          <a:bodyPr>
            <a:normAutofit/>
          </a:bodyPr>
          <a:lstStyle/>
          <a:p>
            <a:r>
              <a:rPr dirty="0"/>
              <a:t>AI-Powered Vulnerability Intelligence &amp; Attack Path Reasoning Platform</a:t>
            </a:r>
          </a:p>
          <a:p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2CD7D-5245-F69E-51E1-8061A07EA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2584393"/>
            <a:ext cx="4157221" cy="35673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456783-D9F9-F80E-A4C0-9B3279794901}"/>
              </a:ext>
            </a:extLst>
          </p:cNvPr>
          <p:cNvSpPr txBox="1"/>
          <p:nvPr/>
        </p:nvSpPr>
        <p:spPr>
          <a:xfrm>
            <a:off x="0" y="6928049"/>
            <a:ext cx="41572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cde.ual.es/en/support-for-the-creation-of-an-eu-cybersecurity-certification-framework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282804"/>
            <a:ext cx="6251303" cy="1348033"/>
          </a:xfrm>
        </p:spPr>
        <p:txBody>
          <a:bodyPr/>
          <a:lstStyle/>
          <a:p>
            <a:pPr>
              <a:defRPr sz="3600" b="1"/>
            </a:pPr>
            <a:r>
              <a:rPr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517715"/>
            <a:ext cx="6251303" cy="2677213"/>
          </a:xfrm>
        </p:spPr>
        <p:txBody>
          <a:bodyPr/>
          <a:lstStyle/>
          <a:p>
            <a:pPr lvl="1">
              <a:defRPr sz="2000" b="0"/>
            </a:pPr>
            <a:r>
              <a:rPr lang="en-US" dirty="0"/>
              <a:t>Security teams face thousands of vulnerabilities daily</a:t>
            </a:r>
          </a:p>
          <a:p>
            <a:pPr lvl="1">
              <a:defRPr sz="2000" b="0"/>
            </a:pPr>
            <a:r>
              <a:rPr lang="en-US" dirty="0"/>
              <a:t>Traditional scanners show isolated CVEs</a:t>
            </a:r>
          </a:p>
          <a:p>
            <a:pPr lvl="1">
              <a:defRPr sz="2000" b="0"/>
            </a:pPr>
            <a:r>
              <a:rPr lang="en-US" dirty="0"/>
              <a:t>No visibility into how attacks chain together</a:t>
            </a:r>
          </a:p>
          <a:p>
            <a:pPr lvl="1">
              <a:defRPr sz="2000" b="0"/>
            </a:pPr>
            <a:r>
              <a:rPr lang="en-US" dirty="0"/>
              <a:t>Prioritization remains manual and reactive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2F951-ABE1-426D-294A-429555862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69142" y="3742441"/>
            <a:ext cx="4464185" cy="311555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FCE191-7925-4968-040B-9F1DF99F2A30}"/>
              </a:ext>
            </a:extLst>
          </p:cNvPr>
          <p:cNvSpPr txBox="1"/>
          <p:nvPr/>
        </p:nvSpPr>
        <p:spPr>
          <a:xfrm>
            <a:off x="781050" y="5962650"/>
            <a:ext cx="7581900" cy="2308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geobrava.wordpress.com/2019/09/25/how-artificial-intelligence-creates-cyber-security-risks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41C703-B899-DCDB-1C96-2C925D66E2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3696" y="3742439"/>
            <a:ext cx="4360490" cy="31155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B3919F-CFD1-0509-4E92-44698AFAB5DC}"/>
              </a:ext>
            </a:extLst>
          </p:cNvPr>
          <p:cNvSpPr txBox="1"/>
          <p:nvPr/>
        </p:nvSpPr>
        <p:spPr>
          <a:xfrm>
            <a:off x="182423" y="6923787"/>
            <a:ext cx="42817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7" tooltip="https://journalistsresource.org/economics/emerging-cyber-threats-report-2013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8" tooltip="https://creativecommons.org/licenses/by-nd/3.0/"/>
              </a:rPr>
              <a:t>CC BY-ND</a:t>
            </a:r>
            <a:endParaRPr lang="en-I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/>
            </a:pPr>
            <a:r>
              <a:t>Why Existing Tools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 b="0"/>
            </a:pPr>
            <a:r>
              <a:t>Detection without reasoning</a:t>
            </a:r>
          </a:p>
          <a:p>
            <a:pPr lvl="1">
              <a:defRPr sz="2000" b="0"/>
            </a:pPr>
            <a:r>
              <a:t>Lack of attacker-perspective modeling</a:t>
            </a:r>
          </a:p>
          <a:p>
            <a:pPr lvl="1">
              <a:defRPr sz="2000" b="0"/>
            </a:pPr>
            <a:r>
              <a:t>Static reports, no contextual intelligence</a:t>
            </a:r>
          </a:p>
          <a:p>
            <a:pPr lvl="1">
              <a:defRPr sz="2000" b="0"/>
            </a:pPr>
            <a:r>
              <a:t>High cognitive load on security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Our Solution: ASTRA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 b="0"/>
            </a:pPr>
            <a:r>
              <a:t>Real-time vulnerability discovery</a:t>
            </a:r>
          </a:p>
          <a:p>
            <a:pPr lvl="1">
              <a:defRPr sz="2000" b="0"/>
            </a:pPr>
            <a:r>
              <a:t>AI-driven attack path reasoning</a:t>
            </a:r>
          </a:p>
          <a:p>
            <a:pPr lvl="1">
              <a:defRPr sz="2000" b="0"/>
            </a:pPr>
            <a:r>
              <a:t>Context-aware security intelligence</a:t>
            </a:r>
          </a:p>
          <a:p>
            <a:pPr lvl="1">
              <a:defRPr sz="2000" b="0"/>
            </a:pPr>
            <a:r>
              <a:t>Human-readable explanations for faster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 b="0"/>
            </a:pPr>
            <a:r>
              <a:rPr dirty="0"/>
              <a:t>Scanning Layer (Nmap, Nuclei)</a:t>
            </a:r>
          </a:p>
          <a:p>
            <a:pPr lvl="1">
              <a:defRPr sz="2000" b="0"/>
            </a:pPr>
            <a:r>
              <a:rPr dirty="0"/>
              <a:t>Threat Intelligence Enrichment (NVD, </a:t>
            </a:r>
            <a:r>
              <a:rPr dirty="0" err="1"/>
              <a:t>ExploitDB</a:t>
            </a:r>
            <a:r>
              <a:rPr dirty="0"/>
              <a:t>)</a:t>
            </a:r>
          </a:p>
          <a:p>
            <a:pPr lvl="1">
              <a:defRPr sz="2000" b="0"/>
            </a:pPr>
            <a:r>
              <a:rPr dirty="0"/>
              <a:t>Attack Path Reasoning Engine</a:t>
            </a:r>
          </a:p>
          <a:p>
            <a:pPr lvl="1">
              <a:defRPr sz="2000" b="0"/>
            </a:pPr>
            <a:r>
              <a:rPr dirty="0"/>
              <a:t>AI RAG-based Analyst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FE531-9BCC-1E55-7BF3-FC959852C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1031"/>
            <a:ext cx="9144000" cy="4006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/>
            </a:pPr>
            <a:r>
              <a:t>Attack Path Reasoning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 b="0"/>
            </a:pPr>
            <a:r>
              <a:t>Models attacker behavior and privilege escalation</a:t>
            </a:r>
          </a:p>
          <a:p>
            <a:pPr lvl="1">
              <a:defRPr sz="2000" b="0"/>
            </a:pPr>
            <a:r>
              <a:t>Identifies critical exploit chains</a:t>
            </a:r>
          </a:p>
          <a:p>
            <a:pPr lvl="1">
              <a:defRPr sz="2000" b="0"/>
            </a:pPr>
            <a:r>
              <a:t>Highlights real-world impact scenarios</a:t>
            </a:r>
          </a:p>
          <a:p>
            <a:pPr lvl="1">
              <a:defRPr sz="2000" b="0"/>
            </a:pPr>
            <a:r>
              <a:t>Prioritizes vulnerabilities by actual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/>
            </a:pPr>
            <a:r>
              <a:t>AI Security Analyst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 b="0"/>
            </a:pPr>
            <a:r>
              <a:t>Natural language interaction</a:t>
            </a:r>
          </a:p>
          <a:p>
            <a:pPr lvl="1">
              <a:defRPr sz="2000" b="0"/>
            </a:pPr>
            <a:r>
              <a:t>Explains exploitation steps</a:t>
            </a:r>
          </a:p>
          <a:p>
            <a:pPr lvl="1">
              <a:defRPr sz="2000" b="0"/>
            </a:pPr>
            <a:r>
              <a:t>Provides actionable remediation guidance</a:t>
            </a:r>
          </a:p>
          <a:p>
            <a:pPr lvl="1">
              <a:defRPr sz="2000" b="0"/>
            </a:pPr>
            <a:r>
              <a:t>Bridges skill gaps across teams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 b="0"/>
            </a:pPr>
            <a:r>
              <a:t>From CVE lists to attack narratives</a:t>
            </a:r>
          </a:p>
          <a:p>
            <a:pPr lvl="1">
              <a:defRPr sz="2000" b="0"/>
            </a:pPr>
            <a:r>
              <a:t>From alerts to understanding</a:t>
            </a:r>
          </a:p>
          <a:p>
            <a:pPr lvl="1">
              <a:defRPr sz="2000" b="0"/>
            </a:pPr>
            <a:r>
              <a:t>From reactive defense to proactive security</a:t>
            </a:r>
          </a:p>
          <a:p>
            <a:pPr lvl="1">
              <a:defRPr sz="2000" b="0"/>
            </a:pPr>
            <a:r>
              <a:t>Designed for scale and collaboration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Impact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 b="0"/>
            </a:pPr>
            <a:r>
              <a:t>Improved vulnerability prioritization accuracy</a:t>
            </a:r>
          </a:p>
          <a:p>
            <a:pPr lvl="1">
              <a:defRPr sz="2000" b="0"/>
            </a:pPr>
            <a:r>
              <a:t>Reduced response time</a:t>
            </a:r>
          </a:p>
          <a:p>
            <a:pPr lvl="1">
              <a:defRPr sz="2000" b="0"/>
            </a:pPr>
            <a:r>
              <a:t>Clear risk communication</a:t>
            </a:r>
          </a:p>
          <a:p>
            <a:pPr lvl="1">
              <a:defRPr sz="2000" b="0"/>
            </a:pPr>
            <a:r>
              <a:t>Measurable security posture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rPr dirty="0"/>
              <a:t>C</a:t>
            </a:r>
            <a:r>
              <a:rPr lang="en-US" dirty="0"/>
              <a:t>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ASTRA transforms fragmented vulnerability data into actionable cyber intelligence.</a:t>
            </a:r>
            <a:endParaRPr lang="en-US" dirty="0"/>
          </a:p>
          <a:p>
            <a:r>
              <a:rPr lang="en-US" dirty="0"/>
              <a:t>By combining real-time scanning, AI-driven vulnerability reasoning, and graph-based attack path analysis, ASTRA enables security teams to </a:t>
            </a:r>
            <a:r>
              <a:rPr lang="en-US" b="1" dirty="0"/>
              <a:t>see how attackers actually move</a:t>
            </a:r>
            <a:r>
              <a:rPr lang="en-US" dirty="0"/>
              <a:t>, not just where vulnerabilities exist.</a:t>
            </a:r>
          </a:p>
          <a:p>
            <a:r>
              <a:rPr lang="en-US" dirty="0"/>
              <a:t>Instead of overwhelming analysts with raw scan outputs, ASTRA prioritizes risks based on </a:t>
            </a:r>
            <a:r>
              <a:rPr lang="en-US" b="1" dirty="0"/>
              <a:t>real attack feasibility</a:t>
            </a:r>
            <a:r>
              <a:rPr lang="en-US" dirty="0"/>
              <a:t>, reducing response time and improving decision-making.</a:t>
            </a:r>
          </a:p>
          <a:p>
            <a:r>
              <a:rPr lang="en-US" dirty="0"/>
              <a:t>With its scalable architecture and AI-first design, ASTRA is built not just for detection, but for </a:t>
            </a:r>
            <a:r>
              <a:rPr lang="en-US" b="1" dirty="0"/>
              <a:t>anticipation and prevention</a:t>
            </a:r>
            <a:r>
              <a:rPr lang="en-US" dirty="0"/>
              <a:t> — making cybersecurity </a:t>
            </a:r>
            <a:r>
              <a:rPr lang="en-US" b="1" dirty="0"/>
              <a:t>proactive rather than reactive</a:t>
            </a:r>
            <a:r>
              <a:rPr lang="en-US" dirty="0"/>
              <a:t>.</a:t>
            </a:r>
          </a:p>
          <a:p>
            <a:pPr lvl="1">
              <a:defRPr sz="2000" b="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</TotalTime>
  <Words>323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Rockwell</vt:lpstr>
      <vt:lpstr>Gallery</vt:lpstr>
      <vt:lpstr>ASTRA  -Automated Security Threat Recognition System</vt:lpstr>
      <vt:lpstr>The Problem</vt:lpstr>
      <vt:lpstr>Why Existing Tools Fall Short</vt:lpstr>
      <vt:lpstr>Our Solution: ASTRA</vt:lpstr>
      <vt:lpstr>System Architecture</vt:lpstr>
      <vt:lpstr>Attack Path Reasoning Engine</vt:lpstr>
      <vt:lpstr>AI Security Analyst (RAG)</vt:lpstr>
      <vt:lpstr>Key Differentiators</vt:lpstr>
      <vt:lpstr>Impact &amp; Metrics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HEMLATA PANDAV</cp:lastModifiedBy>
  <cp:revision>2</cp:revision>
  <dcterms:created xsi:type="dcterms:W3CDTF">2013-01-27T09:14:16Z</dcterms:created>
  <dcterms:modified xsi:type="dcterms:W3CDTF">2026-01-24T23:37:04Z</dcterms:modified>
  <cp:category/>
</cp:coreProperties>
</file>